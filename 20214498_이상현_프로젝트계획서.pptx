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EBA46-B7AE-4DAE-93EB-0FED88B202A9}" v="3" dt="2025-09-19T06:12:39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현 이" userId="bf236a526cc1b797" providerId="LiveId" clId="{31621B83-030A-43F7-9FE4-8D5F1E37076F}"/>
    <pc:docChg chg="custSel modSld">
      <pc:chgData name="상현 이" userId="bf236a526cc1b797" providerId="LiveId" clId="{31621B83-030A-43F7-9FE4-8D5F1E37076F}" dt="2025-09-19T06:12:43.390" v="4" actId="1076"/>
      <pc:docMkLst>
        <pc:docMk/>
      </pc:docMkLst>
      <pc:sldChg chg="addSp delSp modSp mod">
        <pc:chgData name="상현 이" userId="bf236a526cc1b797" providerId="LiveId" clId="{31621B83-030A-43F7-9FE4-8D5F1E37076F}" dt="2025-09-19T06:12:43.390" v="4" actId="1076"/>
        <pc:sldMkLst>
          <pc:docMk/>
          <pc:sldMk cId="571352717" sldId="258"/>
        </pc:sldMkLst>
        <pc:spChg chg="add">
          <ac:chgData name="상현 이" userId="bf236a526cc1b797" providerId="LiveId" clId="{31621B83-030A-43F7-9FE4-8D5F1E37076F}" dt="2025-09-19T06:12:37.029" v="1"/>
          <ac:spMkLst>
            <pc:docMk/>
            <pc:sldMk cId="571352717" sldId="258"/>
            <ac:spMk id="4" creationId="{E3553B4A-5076-AFCF-CDC9-5EC694A863BE}"/>
          </ac:spMkLst>
        </pc:spChg>
        <pc:spChg chg="del">
          <ac:chgData name="상현 이" userId="bf236a526cc1b797" providerId="LiveId" clId="{31621B83-030A-43F7-9FE4-8D5F1E37076F}" dt="2025-09-19T06:12:07.628" v="0" actId="478"/>
          <ac:spMkLst>
            <pc:docMk/>
            <pc:sldMk cId="571352717" sldId="258"/>
            <ac:spMk id="7" creationId="{E6E289F1-9015-DD10-FC46-3D7C24BE993E}"/>
          </ac:spMkLst>
        </pc:spChg>
        <pc:picChg chg="add mod">
          <ac:chgData name="상현 이" userId="bf236a526cc1b797" providerId="LiveId" clId="{31621B83-030A-43F7-9FE4-8D5F1E37076F}" dt="2025-09-19T06:12:43.390" v="4" actId="1076"/>
          <ac:picMkLst>
            <pc:docMk/>
            <pc:sldMk cId="571352717" sldId="258"/>
            <ac:picMk id="8" creationId="{DA2745F2-E22C-D390-2DC5-4C156EF26E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4D17C-6E52-2FE0-79E9-6EE14DE20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E2037B-9CF8-6CF7-F9C8-A2D2614AF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3B4AC-CB86-6F09-6865-9ECCFE59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602251-1078-C1F9-4961-F5F68E4E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BA0EC-3276-2C10-2090-0689477F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40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E44B2-AFBB-7020-7B75-0D2D84DD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0DD3EA-D03F-6651-E484-DA1475DF1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095823-2EC5-BBAE-9A29-D38D4EEC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914A38-6517-915A-F8DE-E163452C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0ABF1-631B-543C-7A8C-0C322B0C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35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DF786-B6AA-6EBE-0D68-52817821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E8A736-E9AE-817F-9356-693752C5A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A2DA72-A990-9334-8946-B7BD87F7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97DEB9-8951-1D48-C26E-4E31CDC7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58BD10-8935-3A22-B565-62454831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593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2E714-9727-EAF9-6AFF-733C9BD4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17F8BE-BD15-FEAD-EF17-A633C19E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E6AC05-35C1-091A-C610-31A685835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D62BB5-A74C-AA75-7F63-3573F112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361C52-5F84-5F6A-1154-2685A18B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D544AA-1A7A-2DC7-9022-693912E4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18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6D012-363A-0DF7-3DB8-58EB7AC7B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793DF2-7E2C-3352-5035-150825C0E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58895-6282-CBAA-3828-09218F41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D49365-862C-9027-A588-3E4228825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FAA3CB-43AA-4AB2-5B67-8332D5B25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10E438-999C-59D1-BF2D-C7CEC336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464707-141F-8BD1-96C1-68FB5F8E8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41B41D-A315-46B9-46F1-8D17D8F9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14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CF6AC-2043-0AF3-876A-D5E657A6E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1A90AE-E23A-A798-2712-CA9C4365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218F38-5FF3-97C7-D13F-6C0A4952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CF9375-1059-582A-B4D0-93B5F83A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97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EE1077-5F5A-15A6-B5B7-FA2F160E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CF5376-4B66-2808-08BB-6E44F7DF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A9FFE-A024-E810-7B01-107820A6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2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D521C-608D-1253-B46F-238FFA5F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C613F7-5BD8-0AC2-DFB4-DD9298F4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FBCD28-72DD-E7AD-83AB-20F500978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21C16-57B8-746A-0C59-35606739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A97A6E-0A8D-8670-018E-0CB98DD0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58C8CE-87D5-48D4-1FE4-12F5CB59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56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4911B-CE69-0F88-315C-7FE90940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7CA64A-4CDA-1035-62F2-1A0C181CC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985A13-3A1F-3213-8F7D-1C72F6C30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24E9F8-6CCC-A03E-0543-4B1E6E94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FAFD5D-71B6-0FC1-6012-5D234C12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4D555B-9882-F023-9E02-C837E94E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49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DE171-1C4B-DD67-2139-B7C0D5688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F70D91-40EA-FA47-DCA7-1845FFAC8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FB6161-BC3D-8759-0545-9FF1937C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362868-C55D-EF88-7742-0606328F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C5EA3-32CD-40E8-8AD1-8B577D38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68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162E17-C162-ADEA-5F34-45AC33A1A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BE5222-D8ED-17FA-E156-8E8ED4C86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4EA03-8858-FEAA-998F-27DC2108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BA1F7-2FFF-5A0D-93E5-C16E6355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83B25F-B51B-9363-7B68-9AE6875D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40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69A13A-B024-E290-11BF-871DAC8DD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80E739-61A8-31FA-9E2B-051382FB6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EC100-6A5D-7C07-8C9C-9B5DC4DA3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C75BB-38AC-44A6-8A4F-40ED58C1B3C0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3C3FA7-5B8D-8D85-3781-991726F43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61359-6FF8-1139-7EB6-E76DB8734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588EB-0915-433E-BE8C-AEA31193C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81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021E3-8F2B-BBF2-4F0D-A30D3F17E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1041400"/>
            <a:ext cx="10198100" cy="2387600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재무제표를 통한 국내 게임시장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D8A56C-1EF4-7D49-4A03-C1843BB7DB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202144098 </a:t>
            </a:r>
            <a:r>
              <a:rPr lang="ko-KR" altLang="en-US" dirty="0"/>
              <a:t>이상현</a:t>
            </a:r>
          </a:p>
        </p:txBody>
      </p:sp>
    </p:spTree>
    <p:extLst>
      <p:ext uri="{BB962C8B-B14F-4D97-AF65-F5344CB8AC3E}">
        <p14:creationId xmlns:p14="http://schemas.microsoft.com/office/powerpoint/2010/main" val="3865913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69430-39D6-E773-696C-EADF30321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365124"/>
            <a:ext cx="2705100" cy="10699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sz="3600" dirty="0"/>
              <a:t>분석할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923B5-C671-D437-BAA0-74FE78689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800225"/>
            <a:ext cx="5041899" cy="4351338"/>
          </a:xfrm>
          <a:ln>
            <a:solidFill>
              <a:schemeClr val="tx1"/>
            </a:solidFill>
          </a:ln>
        </p:spPr>
        <p:txBody>
          <a:bodyPr anchor="ctr"/>
          <a:lstStyle/>
          <a:p>
            <a:r>
              <a:rPr lang="ko-KR" altLang="en-US" sz="2400" dirty="0"/>
              <a:t>국내 주요 게임사들의 재무제표를 기반으로 산업 구조 및 수익성 비교</a:t>
            </a:r>
            <a:endParaRPr lang="en-US" altLang="ko-KR" sz="2400" dirty="0"/>
          </a:p>
          <a:p>
            <a:r>
              <a:rPr lang="ko-KR" altLang="en-US" sz="2400" dirty="0"/>
              <a:t>매출</a:t>
            </a:r>
            <a:r>
              <a:rPr lang="en-US" altLang="ko-KR" sz="2400" dirty="0"/>
              <a:t>, </a:t>
            </a:r>
            <a:r>
              <a:rPr lang="ko-KR" altLang="en-US" sz="2400" dirty="0"/>
              <a:t>영업이익률</a:t>
            </a:r>
            <a:r>
              <a:rPr lang="en-US" altLang="ko-KR" sz="2400" dirty="0"/>
              <a:t>, ROE, R&amp;D </a:t>
            </a:r>
            <a:r>
              <a:rPr lang="ko-KR" altLang="en-US" sz="2400" dirty="0"/>
              <a:t>투자 비중 등 핵심 재무지표 분석</a:t>
            </a:r>
            <a:endParaRPr lang="en-US" altLang="ko-KR" sz="2400" dirty="0"/>
          </a:p>
          <a:p>
            <a:r>
              <a:rPr lang="ko-KR" altLang="en-US" sz="2400" dirty="0"/>
              <a:t>텍스트 마이닝을 통한 사업 보고서 내 게임 관련 키워드 추출</a:t>
            </a:r>
            <a:endParaRPr lang="en-US" altLang="ko-KR" sz="2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75FDC89-A30B-811F-6839-C25099029BE8}"/>
              </a:ext>
            </a:extLst>
          </p:cNvPr>
          <p:cNvCxnSpPr/>
          <p:nvPr/>
        </p:nvCxnSpPr>
        <p:spPr>
          <a:xfrm>
            <a:off x="6134100" y="365125"/>
            <a:ext cx="0" cy="6226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3C15300B-232F-6F5C-383D-DA7E4C6098B9}"/>
              </a:ext>
            </a:extLst>
          </p:cNvPr>
          <p:cNvSpPr txBox="1">
            <a:spLocks/>
          </p:cNvSpPr>
          <p:nvPr/>
        </p:nvSpPr>
        <p:spPr>
          <a:xfrm>
            <a:off x="6654802" y="365124"/>
            <a:ext cx="3238497" cy="10699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사용할 데이터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7F3E92F-C916-C7CC-029C-9AEED1BC8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342869"/>
              </p:ext>
            </p:extLst>
          </p:nvPr>
        </p:nvGraphicFramePr>
        <p:xfrm>
          <a:off x="6464300" y="1800225"/>
          <a:ext cx="5511803" cy="348107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9676526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534469532"/>
                    </a:ext>
                  </a:extLst>
                </a:gridCol>
                <a:gridCol w="2400303">
                  <a:extLst>
                    <a:ext uri="{9D8B030D-6E8A-4147-A177-3AD203B41FA5}">
                      <a16:colId xmlns:a16="http://schemas.microsoft.com/office/drawing/2014/main" val="1312677414"/>
                    </a:ext>
                  </a:extLst>
                </a:gridCol>
              </a:tblGrid>
              <a:tr h="8702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활용 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216893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재무제표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DART </a:t>
                      </a:r>
                      <a:r>
                        <a:rPr lang="ko-KR" altLang="en-US" dirty="0"/>
                        <a:t>전자공시 </a:t>
                      </a:r>
                      <a:r>
                        <a:rPr lang="en-US" altLang="ko-KR" dirty="0"/>
                        <a:t>API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기업별 재무지표 수집 및 비교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240314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업종 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KRX API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게임사</a:t>
                      </a:r>
                      <a:r>
                        <a:rPr lang="ko-KR" altLang="en-US" dirty="0"/>
                        <a:t> 선별 및 필터링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689732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주가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증권사 </a:t>
                      </a:r>
                      <a:r>
                        <a:rPr lang="en-US" altLang="ko-KR" dirty="0"/>
                        <a:t>API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재무성과 및 시장 반을 비교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1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43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74CE-DA24-DA4D-3554-95BF5012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ED750-1C1D-82B5-5EC8-E5A5751C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365124"/>
            <a:ext cx="3238496" cy="10699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sz="3600"/>
              <a:t>프로젝트 범위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61F91-16B4-8C36-DF79-25A93496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800225"/>
            <a:ext cx="5041899" cy="4351338"/>
          </a:xfrm>
          <a:ln>
            <a:solidFill>
              <a:schemeClr val="tx1"/>
            </a:solidFill>
          </a:ln>
        </p:spPr>
        <p:txBody>
          <a:bodyPr anchor="ctr"/>
          <a:lstStyle/>
          <a:p>
            <a:r>
              <a:rPr lang="ko-KR" altLang="en-US" sz="2400" dirty="0"/>
              <a:t>대상 기업 </a:t>
            </a:r>
            <a:r>
              <a:rPr lang="en-US" altLang="ko-KR" sz="2400" dirty="0"/>
              <a:t>:</a:t>
            </a:r>
            <a:r>
              <a:rPr lang="ko-KR" altLang="en-US" sz="2400" dirty="0"/>
              <a:t> 국내 상장 </a:t>
            </a:r>
            <a:r>
              <a:rPr lang="ko-KR" altLang="en-US" sz="2400" dirty="0" err="1"/>
              <a:t>게임사</a:t>
            </a:r>
            <a:endParaRPr lang="en-US" altLang="ko-KR" sz="2400" dirty="0"/>
          </a:p>
          <a:p>
            <a:r>
              <a:rPr lang="ko-KR" altLang="en-US" sz="2400" dirty="0"/>
              <a:t>분석 기간 </a:t>
            </a:r>
            <a:r>
              <a:rPr lang="en-US" altLang="ko-KR" sz="2400" dirty="0"/>
              <a:t>: </a:t>
            </a:r>
            <a:r>
              <a:rPr lang="ko-KR" altLang="en-US" sz="2400" dirty="0"/>
              <a:t>최근 </a:t>
            </a:r>
            <a:r>
              <a:rPr lang="en-US" altLang="ko-KR" sz="2400" dirty="0"/>
              <a:t>3</a:t>
            </a:r>
            <a:r>
              <a:rPr lang="ko-KR" altLang="en-US" sz="2400" dirty="0"/>
              <a:t>개년 </a:t>
            </a:r>
            <a:r>
              <a:rPr lang="en-US" altLang="ko-KR" sz="2400" dirty="0"/>
              <a:t>(2022~2024</a:t>
            </a:r>
            <a:r>
              <a:rPr lang="ko-KR" altLang="en-US" sz="2400" dirty="0"/>
              <a:t>년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분석 항목 </a:t>
            </a:r>
            <a:r>
              <a:rPr lang="en-US" altLang="ko-KR" sz="2400" dirty="0"/>
              <a:t>: </a:t>
            </a:r>
            <a:r>
              <a:rPr lang="ko-KR" altLang="en-US" sz="2400" dirty="0"/>
              <a:t>매출 영업이익</a:t>
            </a:r>
            <a:r>
              <a:rPr lang="en-US" altLang="ko-KR" sz="2400" dirty="0"/>
              <a:t>, ROE, R&amp;D </a:t>
            </a:r>
            <a:r>
              <a:rPr lang="ko-KR" altLang="en-US" sz="2400" dirty="0"/>
              <a:t>비용</a:t>
            </a:r>
            <a:r>
              <a:rPr lang="en-US" altLang="ko-KR" sz="2400" dirty="0"/>
              <a:t>, </a:t>
            </a:r>
            <a:r>
              <a:rPr lang="ko-KR" altLang="en-US" sz="2400" dirty="0"/>
              <a:t>부채비율 등</a:t>
            </a:r>
            <a:r>
              <a:rPr lang="en-US" altLang="ko-KR" sz="2400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D772E14-F614-EB21-E6BD-641D82A374B9}"/>
              </a:ext>
            </a:extLst>
          </p:cNvPr>
          <p:cNvCxnSpPr/>
          <p:nvPr/>
        </p:nvCxnSpPr>
        <p:spPr>
          <a:xfrm>
            <a:off x="6134100" y="365125"/>
            <a:ext cx="0" cy="6226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C74BB7A1-903E-C964-A72B-4A1E72273F5C}"/>
              </a:ext>
            </a:extLst>
          </p:cNvPr>
          <p:cNvSpPr txBox="1">
            <a:spLocks/>
          </p:cNvSpPr>
          <p:nvPr/>
        </p:nvSpPr>
        <p:spPr>
          <a:xfrm>
            <a:off x="6654802" y="365124"/>
            <a:ext cx="3238497" cy="10699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생성형 </a:t>
            </a:r>
            <a:r>
              <a:rPr lang="en-US" altLang="ko-KR" sz="3600" dirty="0"/>
              <a:t>AI </a:t>
            </a:r>
            <a:r>
              <a:rPr lang="ko-KR" altLang="en-US" sz="3600" dirty="0"/>
              <a:t>결과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2745F2-E22C-D390-2DC5-4C156EF26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2" y="1564331"/>
            <a:ext cx="5246185" cy="492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52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113</Words>
  <Application>Microsoft Office PowerPoint</Application>
  <PresentationFormat>와이드스크린</PresentationFormat>
  <Paragraphs>24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재무제표를 통한 국내 게임시장 분석</vt:lpstr>
      <vt:lpstr>분석할 내용</vt:lpstr>
      <vt:lpstr>프로젝트 범위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상현 이</dc:creator>
  <cp:lastModifiedBy>상현 이</cp:lastModifiedBy>
  <cp:revision>1</cp:revision>
  <dcterms:created xsi:type="dcterms:W3CDTF">2025-09-15T10:51:27Z</dcterms:created>
  <dcterms:modified xsi:type="dcterms:W3CDTF">2025-09-19T06:12:53Z</dcterms:modified>
</cp:coreProperties>
</file>